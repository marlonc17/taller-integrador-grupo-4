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1" r:id="rId14"/>
    <p:sldId id="268" r:id="rId15"/>
    <p:sldId id="270" r:id="rId16"/>
    <p:sldId id="272" r:id="rId17"/>
  </p:sldIdLst>
  <p:sldSz cx="12192000" cy="6858000"/>
  <p:notesSz cx="6858000" cy="9144000"/>
  <p:defaultTextStyle>
    <a:defPPr>
      <a:defRPr lang="es-C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5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CEC84E-947A-53ED-0658-F5CB0677A78A}" v="64" dt="2026-04-23T14:24:34.46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8CFC10-71F7-4E4C-8A07-B3EEDC4768D1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DF29BB4-40C8-4681-90A4-076F14A29358}">
      <dgm:prSet/>
      <dgm:spPr/>
      <dgm:t>
        <a:bodyPr/>
        <a:lstStyle/>
        <a:p>
          <a:r>
            <a:rPr lang="es-CR" dirty="0"/>
            <a:t>Rastreo vehicular tradicional:</a:t>
          </a:r>
        </a:p>
        <a:p>
          <a:r>
            <a:rPr lang="es-CR" dirty="0"/>
            <a:t>-Depende de red celular</a:t>
          </a:r>
        </a:p>
        <a:p>
          <a:r>
            <a:rPr lang="es-CR" dirty="0"/>
            <a:t>-Alto consumo energético</a:t>
          </a:r>
        </a:p>
        <a:p>
          <a:r>
            <a:rPr lang="es-CR" dirty="0"/>
            <a:t>-Costos operativos</a:t>
          </a:r>
          <a:endParaRPr lang="en-US" dirty="0"/>
        </a:p>
      </dgm:t>
    </dgm:pt>
    <dgm:pt modelId="{8607456C-F827-42F3-91AB-CD3F4CF3066F}" type="parTrans" cxnId="{DB1D4F11-AE5F-4658-B3CC-6F1E0D152A87}">
      <dgm:prSet/>
      <dgm:spPr/>
      <dgm:t>
        <a:bodyPr/>
        <a:lstStyle/>
        <a:p>
          <a:endParaRPr lang="en-US"/>
        </a:p>
      </dgm:t>
    </dgm:pt>
    <dgm:pt modelId="{261A2058-EC99-4B72-A903-69080E04102D}" type="sibTrans" cxnId="{DB1D4F11-AE5F-4658-B3CC-6F1E0D152A87}">
      <dgm:prSet/>
      <dgm:spPr/>
      <dgm:t>
        <a:bodyPr/>
        <a:lstStyle/>
        <a:p>
          <a:endParaRPr lang="en-US"/>
        </a:p>
      </dgm:t>
    </dgm:pt>
    <dgm:pt modelId="{87514FCE-7C9C-42C8-BA69-F5876EFFD28D}">
      <dgm:prSet/>
      <dgm:spPr/>
      <dgm:t>
        <a:bodyPr/>
        <a:lstStyle/>
        <a:p>
          <a:r>
            <a:rPr lang="es-CR" dirty="0"/>
            <a:t>Necesidad:</a:t>
          </a:r>
        </a:p>
        <a:p>
          <a:r>
            <a:rPr lang="es-CR" dirty="0"/>
            <a:t>-Bajo consumo</a:t>
          </a:r>
        </a:p>
        <a:p>
          <a:r>
            <a:rPr lang="es-CR" dirty="0"/>
            <a:t>-Largo alcance</a:t>
          </a:r>
        </a:p>
        <a:p>
          <a:r>
            <a:rPr lang="es-CR" dirty="0"/>
            <a:t>-Independiente de infraestructura</a:t>
          </a:r>
          <a:endParaRPr lang="en-US" dirty="0"/>
        </a:p>
      </dgm:t>
    </dgm:pt>
    <dgm:pt modelId="{298CAC72-45CD-46F3-84F7-5E0CCAB55775}" type="parTrans" cxnId="{3D4950AF-A0CD-4A37-92A7-1D4215EAA703}">
      <dgm:prSet/>
      <dgm:spPr/>
      <dgm:t>
        <a:bodyPr/>
        <a:lstStyle/>
        <a:p>
          <a:endParaRPr lang="en-US"/>
        </a:p>
      </dgm:t>
    </dgm:pt>
    <dgm:pt modelId="{4197EAA0-BF9B-496B-A572-FE8D8F5456EC}" type="sibTrans" cxnId="{3D4950AF-A0CD-4A37-92A7-1D4215EAA703}">
      <dgm:prSet/>
      <dgm:spPr/>
      <dgm:t>
        <a:bodyPr/>
        <a:lstStyle/>
        <a:p>
          <a:endParaRPr lang="en-US"/>
        </a:p>
      </dgm:t>
    </dgm:pt>
    <dgm:pt modelId="{B9BB627B-BB3B-4FD3-9EB1-E7646D9E413C}" type="pres">
      <dgm:prSet presAssocID="{C38CFC10-71F7-4E4C-8A07-B3EEDC4768D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DBAAC75-7A23-4CD1-94FB-36608C3E3F8D}" type="pres">
      <dgm:prSet presAssocID="{BDF29BB4-40C8-4681-90A4-076F14A29358}" presName="hierRoot1" presStyleCnt="0"/>
      <dgm:spPr/>
    </dgm:pt>
    <dgm:pt modelId="{16115CA0-A8D2-408B-AB98-77AC4C205B3A}" type="pres">
      <dgm:prSet presAssocID="{BDF29BB4-40C8-4681-90A4-076F14A29358}" presName="composite" presStyleCnt="0"/>
      <dgm:spPr/>
    </dgm:pt>
    <dgm:pt modelId="{CBFF86E3-37AF-40B2-AD44-BF7148D1FB09}" type="pres">
      <dgm:prSet presAssocID="{BDF29BB4-40C8-4681-90A4-076F14A29358}" presName="background" presStyleLbl="node0" presStyleIdx="0" presStyleCnt="2"/>
      <dgm:spPr/>
    </dgm:pt>
    <dgm:pt modelId="{1AF653FA-BE4D-4076-A88A-8385658AE32D}" type="pres">
      <dgm:prSet presAssocID="{BDF29BB4-40C8-4681-90A4-076F14A29358}" presName="text" presStyleLbl="fgAcc0" presStyleIdx="0" presStyleCnt="2">
        <dgm:presLayoutVars>
          <dgm:chPref val="3"/>
        </dgm:presLayoutVars>
      </dgm:prSet>
      <dgm:spPr/>
    </dgm:pt>
    <dgm:pt modelId="{DEFD092A-845C-4749-A4A3-1C680E311FE4}" type="pres">
      <dgm:prSet presAssocID="{BDF29BB4-40C8-4681-90A4-076F14A29358}" presName="hierChild2" presStyleCnt="0"/>
      <dgm:spPr/>
    </dgm:pt>
    <dgm:pt modelId="{808E18AC-3FA5-4B7F-BB3B-0BB4504BDC34}" type="pres">
      <dgm:prSet presAssocID="{87514FCE-7C9C-42C8-BA69-F5876EFFD28D}" presName="hierRoot1" presStyleCnt="0"/>
      <dgm:spPr/>
    </dgm:pt>
    <dgm:pt modelId="{5BAA55BD-57B7-4E8D-891D-5409DBB6F517}" type="pres">
      <dgm:prSet presAssocID="{87514FCE-7C9C-42C8-BA69-F5876EFFD28D}" presName="composite" presStyleCnt="0"/>
      <dgm:spPr/>
    </dgm:pt>
    <dgm:pt modelId="{F2E81B4B-AAAF-45B0-AF25-FFE67C959E35}" type="pres">
      <dgm:prSet presAssocID="{87514FCE-7C9C-42C8-BA69-F5876EFFD28D}" presName="background" presStyleLbl="node0" presStyleIdx="1" presStyleCnt="2"/>
      <dgm:spPr/>
    </dgm:pt>
    <dgm:pt modelId="{614A253D-611A-485E-85FC-44FF029E8821}" type="pres">
      <dgm:prSet presAssocID="{87514FCE-7C9C-42C8-BA69-F5876EFFD28D}" presName="text" presStyleLbl="fgAcc0" presStyleIdx="1" presStyleCnt="2">
        <dgm:presLayoutVars>
          <dgm:chPref val="3"/>
        </dgm:presLayoutVars>
      </dgm:prSet>
      <dgm:spPr/>
    </dgm:pt>
    <dgm:pt modelId="{FDA55F0B-1FAE-4408-9FE8-DAA120FE041F}" type="pres">
      <dgm:prSet presAssocID="{87514FCE-7C9C-42C8-BA69-F5876EFFD28D}" presName="hierChild2" presStyleCnt="0"/>
      <dgm:spPr/>
    </dgm:pt>
  </dgm:ptLst>
  <dgm:cxnLst>
    <dgm:cxn modelId="{09132E05-55E9-44AF-BB72-9FAB21E76A09}" type="presOf" srcId="{C38CFC10-71F7-4E4C-8A07-B3EEDC4768D1}" destId="{B9BB627B-BB3B-4FD3-9EB1-E7646D9E413C}" srcOrd="0" destOrd="0" presId="urn:microsoft.com/office/officeart/2005/8/layout/hierarchy1"/>
    <dgm:cxn modelId="{DB1D4F11-AE5F-4658-B3CC-6F1E0D152A87}" srcId="{C38CFC10-71F7-4E4C-8A07-B3EEDC4768D1}" destId="{BDF29BB4-40C8-4681-90A4-076F14A29358}" srcOrd="0" destOrd="0" parTransId="{8607456C-F827-42F3-91AB-CD3F4CF3066F}" sibTransId="{261A2058-EC99-4B72-A903-69080E04102D}"/>
    <dgm:cxn modelId="{3D4950AF-A0CD-4A37-92A7-1D4215EAA703}" srcId="{C38CFC10-71F7-4E4C-8A07-B3EEDC4768D1}" destId="{87514FCE-7C9C-42C8-BA69-F5876EFFD28D}" srcOrd="1" destOrd="0" parTransId="{298CAC72-45CD-46F3-84F7-5E0CCAB55775}" sibTransId="{4197EAA0-BF9B-496B-A572-FE8D8F5456EC}"/>
    <dgm:cxn modelId="{7AD5CADC-B48D-486B-8795-D77A154F380F}" type="presOf" srcId="{BDF29BB4-40C8-4681-90A4-076F14A29358}" destId="{1AF653FA-BE4D-4076-A88A-8385658AE32D}" srcOrd="0" destOrd="0" presId="urn:microsoft.com/office/officeart/2005/8/layout/hierarchy1"/>
    <dgm:cxn modelId="{2B42B1F4-15E4-4041-A256-C7870E41F29E}" type="presOf" srcId="{87514FCE-7C9C-42C8-BA69-F5876EFFD28D}" destId="{614A253D-611A-485E-85FC-44FF029E8821}" srcOrd="0" destOrd="0" presId="urn:microsoft.com/office/officeart/2005/8/layout/hierarchy1"/>
    <dgm:cxn modelId="{058D0569-02B9-4928-B95D-3BC91DD018F9}" type="presParOf" srcId="{B9BB627B-BB3B-4FD3-9EB1-E7646D9E413C}" destId="{2DBAAC75-7A23-4CD1-94FB-36608C3E3F8D}" srcOrd="0" destOrd="0" presId="urn:microsoft.com/office/officeart/2005/8/layout/hierarchy1"/>
    <dgm:cxn modelId="{069DF977-B248-470F-923F-E511F8E5DB4B}" type="presParOf" srcId="{2DBAAC75-7A23-4CD1-94FB-36608C3E3F8D}" destId="{16115CA0-A8D2-408B-AB98-77AC4C205B3A}" srcOrd="0" destOrd="0" presId="urn:microsoft.com/office/officeart/2005/8/layout/hierarchy1"/>
    <dgm:cxn modelId="{2A42DB35-E6CF-448D-B929-3D3DA5CF6118}" type="presParOf" srcId="{16115CA0-A8D2-408B-AB98-77AC4C205B3A}" destId="{CBFF86E3-37AF-40B2-AD44-BF7148D1FB09}" srcOrd="0" destOrd="0" presId="urn:microsoft.com/office/officeart/2005/8/layout/hierarchy1"/>
    <dgm:cxn modelId="{9480DEF1-B401-4F20-AFF8-160F819FC55C}" type="presParOf" srcId="{16115CA0-A8D2-408B-AB98-77AC4C205B3A}" destId="{1AF653FA-BE4D-4076-A88A-8385658AE32D}" srcOrd="1" destOrd="0" presId="urn:microsoft.com/office/officeart/2005/8/layout/hierarchy1"/>
    <dgm:cxn modelId="{963E7E3C-F722-440C-8A20-7BA44B517670}" type="presParOf" srcId="{2DBAAC75-7A23-4CD1-94FB-36608C3E3F8D}" destId="{DEFD092A-845C-4749-A4A3-1C680E311FE4}" srcOrd="1" destOrd="0" presId="urn:microsoft.com/office/officeart/2005/8/layout/hierarchy1"/>
    <dgm:cxn modelId="{E6D2CE9C-5976-4850-A721-0BD6FBCFB8D3}" type="presParOf" srcId="{B9BB627B-BB3B-4FD3-9EB1-E7646D9E413C}" destId="{808E18AC-3FA5-4B7F-BB3B-0BB4504BDC34}" srcOrd="1" destOrd="0" presId="urn:microsoft.com/office/officeart/2005/8/layout/hierarchy1"/>
    <dgm:cxn modelId="{944D0398-267B-4EB4-90AD-012786FDF97B}" type="presParOf" srcId="{808E18AC-3FA5-4B7F-BB3B-0BB4504BDC34}" destId="{5BAA55BD-57B7-4E8D-891D-5409DBB6F517}" srcOrd="0" destOrd="0" presId="urn:microsoft.com/office/officeart/2005/8/layout/hierarchy1"/>
    <dgm:cxn modelId="{FF858D4E-3161-4CA2-8AEF-2FA77883B8AB}" type="presParOf" srcId="{5BAA55BD-57B7-4E8D-891D-5409DBB6F517}" destId="{F2E81B4B-AAAF-45B0-AF25-FFE67C959E35}" srcOrd="0" destOrd="0" presId="urn:microsoft.com/office/officeart/2005/8/layout/hierarchy1"/>
    <dgm:cxn modelId="{8FB7488A-BCC6-4CAD-8A7C-830EA4BF1312}" type="presParOf" srcId="{5BAA55BD-57B7-4E8D-891D-5409DBB6F517}" destId="{614A253D-611A-485E-85FC-44FF029E8821}" srcOrd="1" destOrd="0" presId="urn:microsoft.com/office/officeart/2005/8/layout/hierarchy1"/>
    <dgm:cxn modelId="{28F00393-6629-443C-8A28-06AC641545A1}" type="presParOf" srcId="{808E18AC-3FA5-4B7F-BB3B-0BB4504BDC34}" destId="{FDA55F0B-1FAE-4408-9FE8-DAA120FE041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FF86E3-37AF-40B2-AD44-BF7148D1FB09}">
      <dsp:nvSpPr>
        <dsp:cNvPr id="0" name=""/>
        <dsp:cNvSpPr/>
      </dsp:nvSpPr>
      <dsp:spPr>
        <a:xfrm>
          <a:off x="134291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F653FA-BE4D-4076-A88A-8385658AE32D}">
      <dsp:nvSpPr>
        <dsp:cNvPr id="0" name=""/>
        <dsp:cNvSpPr/>
      </dsp:nvSpPr>
      <dsp:spPr>
        <a:xfrm>
          <a:off x="615713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Rastreo vehicular tradicional: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-Depende de red celular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-Alto consumo energético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-Costos operativos</a:t>
          </a:r>
          <a:endParaRPr lang="en-US" sz="2700" kern="1200" dirty="0"/>
        </a:p>
      </dsp:txBody>
      <dsp:txXfrm>
        <a:off x="696297" y="538547"/>
        <a:ext cx="4171627" cy="2590157"/>
      </dsp:txXfrm>
    </dsp:sp>
    <dsp:sp modelId="{F2E81B4B-AAAF-45B0-AF25-FFE67C959E35}">
      <dsp:nvSpPr>
        <dsp:cNvPr id="0" name=""/>
        <dsp:cNvSpPr/>
      </dsp:nvSpPr>
      <dsp:spPr>
        <a:xfrm>
          <a:off x="5429930" y="612"/>
          <a:ext cx="4332795" cy="275132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4A253D-611A-485E-85FC-44FF029E8821}">
      <dsp:nvSpPr>
        <dsp:cNvPr id="0" name=""/>
        <dsp:cNvSpPr/>
      </dsp:nvSpPr>
      <dsp:spPr>
        <a:xfrm>
          <a:off x="5911352" y="457963"/>
          <a:ext cx="4332795" cy="275132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Necesidad: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-Bajo consumo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-Largo alcance</a:t>
          </a:r>
        </a:p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R" sz="2700" kern="1200" dirty="0"/>
            <a:t>-Independiente de infraestructura</a:t>
          </a:r>
          <a:endParaRPr lang="en-US" sz="2700" kern="1200" dirty="0"/>
        </a:p>
      </dsp:txBody>
      <dsp:txXfrm>
        <a:off x="5991936" y="538547"/>
        <a:ext cx="4171627" cy="25901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EB574-2692-ABCC-CA46-E2686183B2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EF02BDD-FB33-B36C-87D5-A2D57865E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8C5472-4B0F-B0DC-A0FE-E927E2388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8AA8076-A89B-7555-EE82-EF17BCA62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08DE0C-A051-7D6F-6D89-ACF6457AB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092748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69D31-1A5B-03E3-8ECC-01C467758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D5F314-744E-7577-4BE4-0BDD15B563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9CCFF48-39F1-EB56-887A-6D8759B54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FC4C72-FD6E-B5F1-4118-0D95C30F4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A11AD1-F93F-0722-B27E-394410195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8380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CAA71-4E32-2AB6-0BBD-A1616ACA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20C7B1D-C144-331F-9FA8-EA8C51878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E409F2-D24B-A705-70D9-A784209EB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72964A-E823-BF38-0438-088057F5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EF25A8-34AC-E9EB-600F-07E27B4F4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33989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8EDE6E-DCB7-B3A0-9A9B-7012B84B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E454B6-5EBA-7D60-FF51-5F8A5B00E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1A0DC5-BE73-B96C-EBEA-423158E8FB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1E1A1A-3AA1-6C9C-E00F-CC2BD4017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BEA36A-A2A0-B72E-F03C-C2A971B78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266D7E-7A77-3AB9-A23A-BC4AEFEFA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6631267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62EBBE-AEE4-A46C-4853-CC7112C5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5C2084-DA0A-2BBA-CA49-B1FA6DBC1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ECF1DE7-6D95-B39F-603C-2D670D82B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0855196-B3CC-A7B8-1BA6-D47D2386BC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FF78F8A-D372-D7DE-08EC-0ACE7FB07A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38A2344-93CE-7DEF-ED97-2C5561DE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C869507-238F-1FFE-89DD-FB119F1C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F33D61E-700D-0E4F-582A-86057B1EC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2462093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32D46-35E4-5FDE-C47D-B123DA9AD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C9B33B0-4928-5317-8C07-1232DAF95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FA469E6-D000-0BB2-F21F-8076C4CF0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840E150-CCAF-5E9D-226B-CCA8634BC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54293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623E4E4-741D-8D6D-B9C3-26E96B64A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9BAE787-869D-07A1-B4C2-B6369AABF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AD0F22-8C71-8A50-760A-E8884F8B4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754818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76C746-EAFF-91DF-ED34-52BCD77A9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6825E6-BF6A-99D7-BB86-9B058D683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136F2EF-90EA-FB7D-6726-CF816489C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D6A0C0-1068-48FC-FAAA-E15DDB25F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EA3C68C-F762-C04D-6076-9DC7ED0C3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F83B52-5BA9-2ABC-E4E9-D8D1734B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4182088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E3CFC-1E0A-7090-C57D-2A8020B278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3B2BC71-F569-C48F-9E28-A7C99BF9C7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F127C29-4F9E-AAC5-6D0C-2C3BA3849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2FECD25-BCD7-7AF6-AE64-D6D5E3CC2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FC3BC9E-F04A-F35A-1CBC-3BB010A6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8C896E-D7CC-FAD3-5FB6-B3B7690AB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86205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6E9228-8B91-7EF7-F80D-EEA607335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41A684-830C-40FF-1FEB-E8502809D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89F0E2-A614-DEBF-D0BE-C66FE143E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97B0202-3CB4-E594-4627-29D3D7C1C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EE248A-D935-D554-5DB8-6FC69FC83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96926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5EFD0FD-6D77-4CD7-49D0-25C23AA16B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929449-73BC-6EA8-12A3-D8DC0B97F5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76850A-707D-06A6-F377-5D33A256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E21242D-3E4E-D189-83FA-30F40E2C4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78D688E-2A25-F953-5CA0-E0A46D29A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3169794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D279974-EBFB-4183-A9BB-38B2C94D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1AE309-D64E-4F22-40E5-EFC1F8BD5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1A811B-BCD7-E50D-32B9-9022EC524C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207912-8494-4D91-B115-F493E572E8E3}" type="datetimeFigureOut">
              <a:rPr lang="es-CR" smtClean="0"/>
              <a:t>23/4/2026</a:t>
            </a:fld>
            <a:endParaRPr lang="es-C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EBFFC65-0EFC-01CA-BB96-CD63990B0E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E47FD5-9045-A0E8-FE8E-C9B95D5F7A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22E9FF-C93D-400F-A78F-425253856BF2}" type="slidenum">
              <a:rPr lang="es-CR" smtClean="0"/>
              <a:t>‹Nº›</a:t>
            </a:fld>
            <a:endParaRPr lang="es-CR"/>
          </a:p>
        </p:txBody>
      </p:sp>
    </p:spTree>
    <p:extLst>
      <p:ext uri="{BB962C8B-B14F-4D97-AF65-F5344CB8AC3E}">
        <p14:creationId xmlns:p14="http://schemas.microsoft.com/office/powerpoint/2010/main" val="142288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5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2" descr="GPS trailer tracking: Guía para el rastreo GPS">
            <a:extLst>
              <a:ext uri="{FF2B5EF4-FFF2-40B4-BE49-F238E27FC236}">
                <a16:creationId xmlns:a16="http://schemas.microsoft.com/office/drawing/2014/main" id="{8BDF893B-155D-97D7-E8B4-46B7933E0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14" t="6484" r="28038"/>
          <a:stretch>
            <a:fillRect/>
          </a:stretch>
        </p:blipFill>
        <p:spPr bwMode="auto">
          <a:xfrm>
            <a:off x="3523488" y="10"/>
            <a:ext cx="866851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7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967B62-7ABE-2917-4796-8BB8E93736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733140"/>
            <a:ext cx="3815560" cy="3593357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CR" sz="4800" dirty="0"/>
              <a:t>Sistema </a:t>
            </a:r>
            <a:r>
              <a:rPr lang="es-CR" sz="4800" dirty="0" err="1"/>
              <a:t>Tracker</a:t>
            </a:r>
            <a:r>
              <a:rPr lang="es-CR" sz="4800" dirty="0"/>
              <a:t> </a:t>
            </a:r>
            <a:r>
              <a:rPr lang="es-CR" sz="4800" dirty="0" err="1"/>
              <a:t>LoRa</a:t>
            </a:r>
            <a:r>
              <a:rPr lang="es-CR" sz="4800" dirty="0"/>
              <a:t>/APRS para monitoreo de camiones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B65B245-2550-D137-4E5E-791884D482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es-CR" sz="2000"/>
              <a:t>Marlon Cordero  Rolando Vega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3425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98523B-B981-A24F-5AB9-302EF04BB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 fontScale="90000"/>
          </a:bodyPr>
          <a:lstStyle/>
          <a:p>
            <a:r>
              <a:rPr lang="es-CR" sz="4800" dirty="0"/>
              <a:t>Problema</a:t>
            </a:r>
            <a:br>
              <a:rPr lang="es-CR" sz="4800" dirty="0"/>
            </a:br>
            <a:r>
              <a:rPr lang="es-CR" sz="4800" dirty="0"/>
              <a:t>Rastreo de vehículos que transportan pipas de gas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7678C01-343F-A07B-1298-49A248E46B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9143662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23723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5" name="Rectangle 1044">
            <a:extLst>
              <a:ext uri="{FF2B5EF4-FFF2-40B4-BE49-F238E27FC236}">
                <a16:creationId xmlns:a16="http://schemas.microsoft.com/office/drawing/2014/main" id="{6F828D28-8E09-41CC-8229-3070B5467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magen que contiene camino, camioneta, exterior, calle&#10;&#10;El contenido generado por IA puede ser incorrecto.">
            <a:extLst>
              <a:ext uri="{FF2B5EF4-FFF2-40B4-BE49-F238E27FC236}">
                <a16:creationId xmlns:a16="http://schemas.microsoft.com/office/drawing/2014/main" id="{932631BB-F491-056A-EC7F-1F5658AC98A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"/>
          <a:stretch>
            <a:fillRect/>
          </a:stretch>
        </p:blipFill>
        <p:spPr>
          <a:xfrm>
            <a:off x="20" y="-22"/>
            <a:ext cx="12191977" cy="6858022"/>
          </a:xfrm>
          <a:prstGeom prst="rect">
            <a:avLst/>
          </a:prstGeom>
        </p:spPr>
      </p:pic>
      <p:sp>
        <p:nvSpPr>
          <p:cNvPr id="1047" name="Rectangle 1046">
            <a:extLst>
              <a:ext uri="{FF2B5EF4-FFF2-40B4-BE49-F238E27FC236}">
                <a16:creationId xmlns:a16="http://schemas.microsoft.com/office/drawing/2014/main" id="{D5B012D8-7F27-4758-9AC6-C889B154BD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03377" y="1100316"/>
            <a:ext cx="6858003" cy="4657347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8DF8DC1-544C-A6AB-6E48-BE58D41B2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3988" y="1775424"/>
            <a:ext cx="5452529" cy="356924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200" dirty="0" err="1">
                <a:solidFill>
                  <a:srgbClr val="FFFFFF"/>
                </a:solidFill>
              </a:rPr>
              <a:t>Solucion</a:t>
            </a:r>
            <a:r>
              <a:rPr lang="en-US" sz="5200" dirty="0">
                <a:solidFill>
                  <a:srgbClr val="FFFFFF"/>
                </a:solidFill>
              </a:rPr>
              <a:t>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704DF0-5E1C-4182-23F5-6E912FCCB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3538" y="2248591"/>
            <a:ext cx="5449479" cy="1578054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400">
                <a:solidFill>
                  <a:srgbClr val="FFFFFF"/>
                </a:solidFill>
              </a:rPr>
              <a:t>Nodo LoRa + GPS</a:t>
            </a:r>
            <a:br>
              <a:rPr lang="en-US" sz="24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Arquitectura APRS</a:t>
            </a:r>
            <a:br>
              <a:rPr lang="en-US" sz="2400">
                <a:solidFill>
                  <a:srgbClr val="FFFFFF"/>
                </a:solidFill>
              </a:rPr>
            </a:br>
            <a:r>
              <a:rPr lang="en-US" sz="2400">
                <a:solidFill>
                  <a:srgbClr val="FFFFFF"/>
                </a:solidFill>
              </a:rPr>
              <a:t>Operacion autonoma</a:t>
            </a:r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4063B759-00FC-46D1-9898-8E8625268F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40187" y="2206184"/>
            <a:ext cx="6858003" cy="2445624"/>
          </a:xfrm>
          <a:prstGeom prst="rect">
            <a:avLst/>
          </a:prstGeom>
          <a:gradFill flip="none" rotWithShape="1">
            <a:gsLst>
              <a:gs pos="48000">
                <a:srgbClr val="000000">
                  <a:alpha val="24000"/>
                </a:srgbClr>
              </a:gs>
              <a:gs pos="85000">
                <a:srgbClr val="000000">
                  <a:alpha val="45000"/>
                </a:srgbClr>
              </a:gs>
              <a:gs pos="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744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E776714-3C99-35C1-ADBC-5C4A523C3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Arquitectura del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96DA8F5-D0BE-85B1-1D2D-A411AFA3C2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025979"/>
            <a:ext cx="11327549" cy="4332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526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01DB434-25C1-1D4C-3690-EDFBEF8B95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Diagrama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el</a:t>
            </a:r>
            <a:r>
              <a:rPr lang="es-CR" sz="4000" dirty="0">
                <a:solidFill>
                  <a:srgbClr val="FFFFFF"/>
                </a:solidFill>
              </a:rPr>
              <a:t>é</a:t>
            </a:r>
            <a:r>
              <a:rPr lang="en-US" sz="4000" dirty="0" err="1">
                <a:solidFill>
                  <a:srgbClr val="FFFFFF"/>
                </a:solidFill>
              </a:rPr>
              <a:t>ctrico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0122A6B6-8384-76D0-95E6-D33E3E6EF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9629" y="467208"/>
            <a:ext cx="673134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745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8F3D54-78F6-C6CA-980D-967B644F5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la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placa</a:t>
            </a:r>
            <a:b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T-Beam.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F51DC31-5213-EF70-FDA0-D902178AD2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1198050"/>
            <a:ext cx="7225748" cy="4461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764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874CEA8-B323-36A8-0273-471392BCF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 de Bloques Funcionales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BE1A55D1-6A97-46F2-8753-15E9B02040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863859"/>
            <a:ext cx="7225748" cy="5130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271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D3A1DA-7913-8F3F-B122-234DF9C0F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2" y="248038"/>
            <a:ext cx="1071040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Relación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entre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subsistemas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y la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</a:t>
            </a:r>
            <a:r>
              <a:rPr lang="en-US" sz="3700" dirty="0" err="1">
                <a:solidFill>
                  <a:srgbClr val="FFFFFF"/>
                </a:solidFill>
              </a:rPr>
              <a:t>á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quina</a:t>
            </a:r>
            <a:r>
              <a:rPr lang="en-US" sz="3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7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estados</a:t>
            </a:r>
            <a:endParaRPr lang="en-US" sz="37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D8026B9-1A54-D334-BB50-3482C4ACCE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3839" y="1655276"/>
            <a:ext cx="8724318" cy="479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873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99C553-B014-96CA-DC62-A997A0E1D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Diagrama de la fase de arranque del sistema.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1630D2E3-4030-2634-2982-28D7F8AF9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138" y="467208"/>
            <a:ext cx="5168327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6156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EA2BA90-F91E-F977-CFD8-6B40AC39A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824" y="2501549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Lógica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adaptativa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intervalos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transmisión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basada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en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34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velocidad</a:t>
            </a:r>
            <a:r>
              <a:rPr lang="en-US" sz="34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8DC0FB4D-F164-550A-A120-F37D8C719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972246"/>
            <a:ext cx="7225748" cy="4913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7061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146B72-4362-BFF7-3090-7D5E2EAFB1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Ciclo de operación periódica del sistema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F1A73574-B9FA-253E-86DE-5520BA5952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0755" y="467208"/>
            <a:ext cx="6029093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067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A63BCC-5137-36D3-D8ED-980584804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Ruta de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manejo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errores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del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sistema</a:t>
            </a:r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.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31A59993-25F1-FB47-BBCC-1DE3DC05AF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981278"/>
            <a:ext cx="7225748" cy="4895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9920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08F7BC-85F8-BF22-1627-F999A61D9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Consumo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Marcador de contenido 6">
            <a:extLst>
              <a:ext uri="{FF2B5EF4-FFF2-40B4-BE49-F238E27FC236}">
                <a16:creationId xmlns:a16="http://schemas.microsoft.com/office/drawing/2014/main" id="{6E5A1A34-4E01-CE44-A379-74FD24C301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93161759"/>
              </p:ext>
            </p:extLst>
          </p:nvPr>
        </p:nvGraphicFramePr>
        <p:xfrm>
          <a:off x="644056" y="1729409"/>
          <a:ext cx="10927831" cy="471480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625360">
                  <a:extLst>
                    <a:ext uri="{9D8B030D-6E8A-4147-A177-3AD203B41FA5}">
                      <a16:colId xmlns:a16="http://schemas.microsoft.com/office/drawing/2014/main" val="443705618"/>
                    </a:ext>
                  </a:extLst>
                </a:gridCol>
                <a:gridCol w="2172392">
                  <a:extLst>
                    <a:ext uri="{9D8B030D-6E8A-4147-A177-3AD203B41FA5}">
                      <a16:colId xmlns:a16="http://schemas.microsoft.com/office/drawing/2014/main" val="404908308"/>
                    </a:ext>
                  </a:extLst>
                </a:gridCol>
                <a:gridCol w="5130079">
                  <a:extLst>
                    <a:ext uri="{9D8B030D-6E8A-4147-A177-3AD203B41FA5}">
                      <a16:colId xmlns:a16="http://schemas.microsoft.com/office/drawing/2014/main" val="675919486"/>
                    </a:ext>
                  </a:extLst>
                </a:gridCol>
              </a:tblGrid>
              <a:tr h="114205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3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Componente </a:t>
                      </a:r>
                      <a:endParaRPr lang="es-CR" sz="3400" b="1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Modo</a:t>
                      </a:r>
                      <a:b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R" sz="3400" b="1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activo </a:t>
                      </a:r>
                      <a:endParaRPr lang="es-CR" sz="3400" b="1" i="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3400" b="1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Modo sleep </a:t>
                      </a:r>
                      <a:endParaRPr lang="es-CR" sz="3400" b="1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9904305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ESP32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~80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~0.01 mA (Deep Sleep)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3634485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GPS NEO-6M/M8N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~30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0 mA (apagado por AXP2101)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261966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SX1276 a 20 dBm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~120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~0.001 mA (sleep mode)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2715828"/>
                  </a:ext>
                </a:extLst>
              </a:tr>
              <a:tr h="883643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AXP2101 + circuito</a:t>
                      </a:r>
                      <a:b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b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</a:br>
                      <a: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base </a:t>
                      </a:r>
                      <a:endParaRPr lang="es-CR" sz="2500" b="0" i="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~2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~0.001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9525" cap="flat" cmpd="sng" algn="ctr">
                      <a:solidFill>
                        <a:srgbClr val="C7C6C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087274"/>
                  </a:ext>
                </a:extLst>
              </a:tr>
              <a:tr h="672277"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Total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~232 mA </a:t>
                      </a:r>
                      <a:endParaRPr lang="es-CR" sz="2500" b="0" i="0" cap="none" spc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ts val="1214"/>
                        </a:lnSpc>
                        <a:buNone/>
                      </a:pPr>
                      <a:r>
                        <a:rPr lang="es-CR" sz="2500" b="0" i="0" cap="none" spc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~0.012 mA </a:t>
                      </a:r>
                      <a:endParaRPr lang="es-CR" sz="2500" b="0" i="0" cap="none" spc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</a:endParaRPr>
                    </a:p>
                  </a:txBody>
                  <a:tcPr marL="346042" marR="259531" marT="173021" marB="17302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rgbClr val="C7C6C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1904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6239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6F20DE5C-823B-AADD-6E9D-1A0F4134B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4037698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ED2FCF3-1732-0E8D-3728-BAD353FE5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Código y </a:t>
            </a:r>
            <a:r>
              <a:rPr lang="en-US" sz="40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psudocodigo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7D2698-BE68-E653-F3EE-D4C94109E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9050" y="1412489"/>
            <a:ext cx="4006051" cy="436384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dirty="0"/>
              <a:t>CONFIGURACION:</a:t>
            </a:r>
          </a:p>
          <a:p>
            <a:r>
              <a:rPr lang="en-US" sz="2400" dirty="0"/>
              <a:t>  INTERVALO_MOVIMIENTO  = 5 min</a:t>
            </a:r>
          </a:p>
          <a:p>
            <a:r>
              <a:rPr lang="en-US" sz="2400" dirty="0"/>
              <a:t>  INTERVALO_REPOSO      = 1 h</a:t>
            </a:r>
          </a:p>
          <a:p>
            <a:r>
              <a:rPr lang="en-US" sz="2400" dirty="0"/>
              <a:t>  UMBRAL_VELOCIDAD      = 5km/h</a:t>
            </a:r>
          </a:p>
          <a:p>
            <a:r>
              <a:rPr lang="en-US" sz="2400" dirty="0"/>
              <a:t>  TIMEOUT_GPS           = 60s</a:t>
            </a:r>
          </a:p>
          <a:p>
            <a:r>
              <a:rPr lang="en-US" sz="2400" dirty="0"/>
              <a:t>  TIMEOUT_TX            = 5s</a:t>
            </a:r>
          </a:p>
          <a:p>
            <a:r>
              <a:rPr lang="en-US" sz="2400" dirty="0"/>
              <a:t>  MAX_REINTENTOS        = 3</a:t>
            </a:r>
          </a:p>
          <a:p>
            <a:pPr marL="0"/>
            <a:endParaRPr lang="en-US" sz="200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42457ECC-9AB0-C3E3-0D17-9977717407E2}"/>
              </a:ext>
            </a:extLst>
          </p:cNvPr>
          <p:cNvSpPr txBox="1">
            <a:spLocks/>
          </p:cNvSpPr>
          <p:nvPr/>
        </p:nvSpPr>
        <p:spPr>
          <a:xfrm>
            <a:off x="8229376" y="1412488"/>
            <a:ext cx="4006051" cy="436384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dirty="0" err="1"/>
              <a:t>Parámetros</a:t>
            </a:r>
            <a:r>
              <a:rPr lang="en-US" sz="2400" dirty="0"/>
              <a:t> LoRa </a:t>
            </a:r>
            <a:r>
              <a:rPr lang="en-US" sz="2400" dirty="0" err="1"/>
              <a:t>verificados</a:t>
            </a:r>
            <a:r>
              <a:rPr lang="en-US" sz="2400" dirty="0"/>
              <a:t> </a:t>
            </a:r>
            <a:r>
              <a:rPr lang="en-US" sz="2400" dirty="0" err="1"/>
              <a:t>en</a:t>
            </a:r>
            <a:r>
              <a:rPr lang="en-US" sz="2400" dirty="0"/>
              <a:t> hardware</a:t>
            </a:r>
          </a:p>
          <a:p>
            <a:r>
              <a:rPr lang="en-US" sz="2400" dirty="0"/>
              <a:t>  LORA_FRECUENCIA       = 433775000 Hz</a:t>
            </a:r>
          </a:p>
          <a:p>
            <a:r>
              <a:rPr lang="en-US" sz="2400" dirty="0"/>
              <a:t>  LORA_SF               = 12</a:t>
            </a:r>
          </a:p>
          <a:p>
            <a:r>
              <a:rPr lang="en-US" sz="2400" dirty="0"/>
              <a:t>  LORA_BW               = 125000 Hz</a:t>
            </a:r>
          </a:p>
          <a:p>
            <a:r>
              <a:rPr lang="en-US" sz="2400" dirty="0"/>
              <a:t>  LORA_CR               = 5</a:t>
            </a:r>
          </a:p>
          <a:p>
            <a:r>
              <a:rPr lang="en-US" sz="2400" dirty="0"/>
              <a:t>  LORA_POTENCIA         = 20 dBm</a:t>
            </a:r>
          </a:p>
          <a:p>
            <a:r>
              <a:rPr lang="en-US" sz="2400" dirty="0"/>
              <a:t>  LORA_SYNC_WORD        = 0x12</a:t>
            </a:r>
          </a:p>
          <a:p>
            <a:pPr marL="0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1629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68ED011-BCFC-2D53-E61A-B84BAC41E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4059050" cy="6966857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DD8D1DC5-1A75-FD9F-BC71-4BD07377B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Ideas del Loop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2EA8D3-FBA3-81E0-31DC-89B009A769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74170"/>
            <a:ext cx="3427283" cy="668382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1000" dirty="0" err="1"/>
              <a:t>función</a:t>
            </a:r>
            <a:r>
              <a:rPr lang="en-US" sz="1000" dirty="0"/>
              <a:t> loop():</a:t>
            </a:r>
          </a:p>
          <a:p>
            <a:pPr marL="0" indent="0">
              <a:buNone/>
            </a:pPr>
            <a:r>
              <a:rPr lang="en-US" sz="1000" dirty="0"/>
              <a:t>  </a:t>
            </a:r>
            <a:r>
              <a:rPr lang="en-US" sz="1000" dirty="0" err="1"/>
              <a:t>según</a:t>
            </a:r>
            <a:r>
              <a:rPr lang="en-US" sz="1000" dirty="0"/>
              <a:t> </a:t>
            </a:r>
            <a:r>
              <a:rPr lang="en-US" sz="1000" dirty="0" err="1"/>
              <a:t>estado_actual</a:t>
            </a:r>
            <a:r>
              <a:rPr lang="en-US" sz="1000" dirty="0"/>
              <a:t>: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</a:t>
            </a:r>
            <a:r>
              <a:rPr lang="en-US" sz="1000" dirty="0" err="1"/>
              <a:t>caso</a:t>
            </a:r>
            <a:r>
              <a:rPr lang="en-US" sz="1000" dirty="0"/>
              <a:t> SLEEP:</a:t>
            </a:r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apagar</a:t>
            </a:r>
            <a:r>
              <a:rPr lang="en-US" sz="1000" dirty="0"/>
              <a:t> LED</a:t>
            </a:r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reiniciar</a:t>
            </a:r>
            <a:r>
              <a:rPr lang="en-US" sz="1000" dirty="0"/>
              <a:t> </a:t>
            </a:r>
            <a:r>
              <a:rPr lang="en-US" sz="1000" dirty="0" err="1"/>
              <a:t>contador_reintentos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configurar</a:t>
            </a:r>
            <a:r>
              <a:rPr lang="en-US" sz="1000" dirty="0"/>
              <a:t> timer de Deep Sleep con </a:t>
            </a:r>
            <a:r>
              <a:rPr lang="en-US" sz="1000" dirty="0" err="1"/>
              <a:t>timer_proximo_ciclo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entrar</a:t>
            </a:r>
            <a:r>
              <a:rPr lang="en-US" sz="1000" dirty="0"/>
              <a:t> </a:t>
            </a:r>
            <a:r>
              <a:rPr lang="en-US" sz="1000" dirty="0" err="1"/>
              <a:t>en</a:t>
            </a:r>
            <a:r>
              <a:rPr lang="en-US" sz="1000" dirty="0"/>
              <a:t> Deep Sleep</a:t>
            </a:r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estado_actual</a:t>
            </a:r>
            <a:r>
              <a:rPr lang="en-US" sz="1000" dirty="0"/>
              <a:t> = GPS_ON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</a:t>
            </a:r>
            <a:r>
              <a:rPr lang="en-US" sz="1000" dirty="0" err="1"/>
              <a:t>caso</a:t>
            </a:r>
            <a:r>
              <a:rPr lang="en-US" sz="1000" dirty="0"/>
              <a:t> GPS_ON:</a:t>
            </a:r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enviar</a:t>
            </a:r>
            <a:r>
              <a:rPr lang="en-US" sz="1000" dirty="0"/>
              <a:t> </a:t>
            </a:r>
            <a:r>
              <a:rPr lang="en-US" sz="1000" dirty="0" err="1"/>
              <a:t>comando</a:t>
            </a:r>
            <a:r>
              <a:rPr lang="en-US" sz="1000" dirty="0"/>
              <a:t> I2C a AXP2101 para </a:t>
            </a:r>
            <a:r>
              <a:rPr lang="en-US" sz="1000" dirty="0" err="1"/>
              <a:t>energizar</a:t>
            </a:r>
            <a:r>
              <a:rPr lang="en-US" sz="1000" dirty="0"/>
              <a:t> GPS</a:t>
            </a:r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esperar</a:t>
            </a:r>
            <a:r>
              <a:rPr lang="en-US" sz="1000" dirty="0"/>
              <a:t> </a:t>
            </a:r>
            <a:r>
              <a:rPr lang="en-US" sz="1000" dirty="0" err="1"/>
              <a:t>respuesta</a:t>
            </a:r>
            <a:r>
              <a:rPr lang="en-US" sz="1000" dirty="0"/>
              <a:t> del GPS con timeout TIMEOUT_GPS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si</a:t>
            </a:r>
            <a:r>
              <a:rPr lang="en-US" sz="1000" dirty="0"/>
              <a:t> timeout </a:t>
            </a:r>
            <a:r>
              <a:rPr lang="en-US" sz="1000" dirty="0" err="1"/>
              <a:t>expira</a:t>
            </a:r>
            <a:r>
              <a:rPr lang="en-US" sz="1000" dirty="0"/>
              <a:t> sin </a:t>
            </a:r>
            <a:r>
              <a:rPr lang="en-US" sz="1000" dirty="0" err="1"/>
              <a:t>respuesta</a:t>
            </a:r>
            <a:r>
              <a:rPr lang="en-US" sz="1000" dirty="0"/>
              <a:t>:</a:t>
            </a:r>
          </a:p>
          <a:p>
            <a:pPr marL="0" indent="0">
              <a:buNone/>
            </a:pPr>
            <a:r>
              <a:rPr lang="en-US" sz="1000" dirty="0"/>
              <a:t>      </a:t>
            </a:r>
            <a:r>
              <a:rPr lang="en-US" sz="1000" dirty="0" err="1"/>
              <a:t>estado_fallo</a:t>
            </a:r>
            <a:r>
              <a:rPr lang="en-US" sz="1000" dirty="0"/>
              <a:t>  = GPS_ON</a:t>
            </a:r>
          </a:p>
          <a:p>
            <a:pPr marL="0" indent="0">
              <a:buNone/>
            </a:pPr>
            <a:r>
              <a:rPr lang="en-US" sz="1000" dirty="0"/>
              <a:t>      </a:t>
            </a:r>
            <a:r>
              <a:rPr lang="en-US" sz="1000" dirty="0" err="1"/>
              <a:t>estado_actual</a:t>
            </a:r>
            <a:r>
              <a:rPr lang="en-US" sz="1000" dirty="0"/>
              <a:t> = ERROR_RETRY</a:t>
            </a:r>
          </a:p>
          <a:p>
            <a:pPr marL="0" indent="0">
              <a:buNone/>
            </a:pPr>
            <a:r>
              <a:rPr lang="en-US" sz="1000" dirty="0"/>
              <a:t>      </a:t>
            </a:r>
            <a:r>
              <a:rPr lang="en-US" sz="1000" dirty="0" err="1"/>
              <a:t>retornar</a:t>
            </a: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estado_actual</a:t>
            </a:r>
            <a:r>
              <a:rPr lang="en-US" sz="1000" dirty="0"/>
              <a:t> = SENSING</a:t>
            </a:r>
          </a:p>
          <a:p>
            <a:pPr marL="0" indent="0" algn="ctr">
              <a:buNone/>
            </a:pPr>
            <a:r>
              <a:rPr lang="en-US" sz="1000" dirty="0"/>
              <a:t>.</a:t>
            </a:r>
          </a:p>
          <a:p>
            <a:pPr marL="0" indent="0" algn="ctr">
              <a:buNone/>
            </a:pPr>
            <a:r>
              <a:rPr lang="en-US" sz="1000" dirty="0"/>
              <a:t>.</a:t>
            </a:r>
          </a:p>
          <a:p>
            <a:pPr marL="0" indent="0" algn="ctr">
              <a:buNone/>
            </a:pPr>
            <a:r>
              <a:rPr lang="en-US" sz="1000" dirty="0"/>
              <a:t>.</a:t>
            </a:r>
          </a:p>
          <a:p>
            <a:pPr marL="0"/>
            <a:endParaRPr lang="en-US" sz="5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65543E13-3A83-4969-1211-EE698B0FFB9A}"/>
              </a:ext>
            </a:extLst>
          </p:cNvPr>
          <p:cNvSpPr txBox="1">
            <a:spLocks/>
          </p:cNvSpPr>
          <p:nvPr/>
        </p:nvSpPr>
        <p:spPr>
          <a:xfrm>
            <a:off x="8499985" y="174170"/>
            <a:ext cx="3197701" cy="6812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 err="1"/>
              <a:t>funcion</a:t>
            </a:r>
            <a:r>
              <a:rPr lang="en-US" sz="1000" dirty="0"/>
              <a:t> loop():</a:t>
            </a:r>
          </a:p>
          <a:p>
            <a:pPr marL="0" indent="0">
              <a:buNone/>
            </a:pPr>
            <a:r>
              <a:rPr lang="en-US" sz="1000" dirty="0"/>
              <a:t>    </a:t>
            </a:r>
            <a:r>
              <a:rPr lang="en-US" sz="1000" dirty="0" err="1"/>
              <a:t>segun</a:t>
            </a:r>
            <a:r>
              <a:rPr lang="en-US" sz="1000" dirty="0"/>
              <a:t> </a:t>
            </a:r>
            <a:r>
              <a:rPr lang="en-US" sz="1000" dirty="0" err="1"/>
              <a:t>estado_actual</a:t>
            </a:r>
            <a:r>
              <a:rPr lang="en-US" sz="1000" dirty="0"/>
              <a:t>: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SLEEP: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estado_sleep</a:t>
            </a:r>
            <a:r>
              <a:rPr lang="en-US" sz="1000" dirty="0"/>
              <a:t>()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GPS_ON: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estado_gps_on</a:t>
            </a:r>
            <a:r>
              <a:rPr lang="en-US" sz="1000" dirty="0"/>
              <a:t>()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SENSING: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estado_sensing</a:t>
            </a:r>
            <a:r>
              <a:rPr lang="en-US" sz="1000" dirty="0"/>
              <a:t>()</a:t>
            </a:r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BUILD_PACKET: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estado_build_packet</a:t>
            </a:r>
            <a:r>
              <a:rPr lang="en-US" sz="1000" dirty="0"/>
              <a:t>()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TX_DATA: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estado_tx_data</a:t>
            </a:r>
            <a:r>
              <a:rPr lang="en-US" sz="1000" dirty="0"/>
              <a:t>()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WAIT_TX: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estado_wait_tx</a:t>
            </a:r>
            <a:r>
              <a:rPr lang="en-US" sz="1000" dirty="0"/>
              <a:t>()</a:t>
            </a:r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ERROR_RETRY: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estado_error_retry</a:t>
            </a:r>
            <a:r>
              <a:rPr lang="en-US" sz="1000" dirty="0"/>
              <a:t>()</a:t>
            </a:r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FALLO_CRITICO: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ejecutar</a:t>
            </a:r>
            <a:r>
              <a:rPr lang="en-US" sz="1000" dirty="0"/>
              <a:t> </a:t>
            </a:r>
            <a:r>
              <a:rPr lang="en-US" sz="1000" dirty="0" err="1"/>
              <a:t>fallo_critico</a:t>
            </a:r>
            <a:r>
              <a:rPr lang="en-US" sz="1000" dirty="0"/>
              <a:t>()</a:t>
            </a:r>
            <a:br>
              <a:rPr lang="en-US" sz="1000" dirty="0"/>
            </a:br>
            <a:endParaRPr lang="en-US" sz="1000" dirty="0"/>
          </a:p>
          <a:p>
            <a:pPr marL="0" indent="0">
              <a:buNone/>
            </a:pPr>
            <a:r>
              <a:rPr lang="en-US" sz="1000" dirty="0"/>
              <a:t>        </a:t>
            </a:r>
            <a:r>
              <a:rPr lang="en-US" sz="1000" dirty="0" err="1"/>
              <a:t>caso</a:t>
            </a:r>
            <a:r>
              <a:rPr lang="en-US" sz="1000" dirty="0"/>
              <a:t> </a:t>
            </a:r>
            <a:r>
              <a:rPr lang="en-US" sz="1000" dirty="0" err="1"/>
              <a:t>otro</a:t>
            </a:r>
            <a:r>
              <a:rPr lang="en-US" sz="1000" dirty="0"/>
              <a:t>:</a:t>
            </a:r>
          </a:p>
          <a:p>
            <a:pPr marL="0" indent="0">
              <a:buNone/>
            </a:pPr>
            <a:r>
              <a:rPr lang="en-US" sz="1000" dirty="0"/>
              <a:t>            </a:t>
            </a:r>
            <a:r>
              <a:rPr lang="en-US" sz="1000" dirty="0" err="1"/>
              <a:t>estado_actual</a:t>
            </a:r>
            <a:r>
              <a:rPr lang="en-US" sz="1000" dirty="0"/>
              <a:t> = FALLO_CRITICO</a:t>
            </a:r>
          </a:p>
        </p:txBody>
      </p:sp>
      <p:pic>
        <p:nvPicPr>
          <p:cNvPr id="1030" name="Picture 6" descr="Algoritmos de Ordenamiento Lineal – ANALIZAR LOS REQUISITOS DEL CLIENTE  PARA CONSTRUIR EL SISTEMA DE INFORMACIÓN">
            <a:extLst>
              <a:ext uri="{FF2B5EF4-FFF2-40B4-BE49-F238E27FC236}">
                <a16:creationId xmlns:a16="http://schemas.microsoft.com/office/drawing/2014/main" id="{0AF6046F-28AD-CC1F-D1C1-16D82B3125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0672" y="4852936"/>
            <a:ext cx="2945138" cy="195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324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ABB79-478A-5F4E-FDED-9EE4996E6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s-CR" sz="540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CB68CE-BFC7-5FC7-3246-7888AE5AF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s-CR" sz="2000" dirty="0" err="1"/>
              <a:t>LoRa</a:t>
            </a:r>
            <a:r>
              <a:rPr lang="es-CR" sz="2000" dirty="0"/>
              <a:t> permite rastreo vehicular sin red celular</a:t>
            </a:r>
          </a:p>
          <a:p>
            <a:r>
              <a:rPr lang="es-CR" sz="2000" dirty="0"/>
              <a:t>Integración en T-Beam simplifica el hardware</a:t>
            </a:r>
          </a:p>
          <a:p>
            <a:r>
              <a:rPr lang="es-CR" sz="2000" dirty="0"/>
              <a:t>FSM optimiza el consumo energético</a:t>
            </a:r>
          </a:p>
          <a:p>
            <a:r>
              <a:rPr lang="es-CR" sz="2000" dirty="0"/>
              <a:t>Autonomía de varias semanas validada</a:t>
            </a:r>
          </a:p>
          <a:p>
            <a:r>
              <a:rPr lang="es-CR" sz="2000" dirty="0"/>
              <a:t>Sistema escalable hacia APRS</a:t>
            </a:r>
          </a:p>
        </p:txBody>
      </p:sp>
      <p:pic>
        <p:nvPicPr>
          <p:cNvPr id="3074" name="Picture 2" descr="Beneficios del GPS para tu empresa de camiones de carga">
            <a:extLst>
              <a:ext uri="{FF2B5EF4-FFF2-40B4-BE49-F238E27FC236}">
                <a16:creationId xmlns:a16="http://schemas.microsoft.com/office/drawing/2014/main" id="{66313E53-20A6-A60E-0C12-8AA758924E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5" r="33465" b="1"/>
          <a:stretch>
            <a:fillRect/>
          </a:stretch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528554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547</Words>
  <Application>Microsoft Office PowerPoint</Application>
  <PresentationFormat>Panorámica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Tema de Office</vt:lpstr>
      <vt:lpstr>Sistema Tracker LoRa/APRS para monitoreo de camiones</vt:lpstr>
      <vt:lpstr>Problema Rastreo de vehículos que transportan pipas de gas</vt:lpstr>
      <vt:lpstr>Solucion </vt:lpstr>
      <vt:lpstr>Arquitectura del Sistema</vt:lpstr>
      <vt:lpstr>Diagrama eléctrico</vt:lpstr>
      <vt:lpstr>Diagrama de la placa T-Beam.</vt:lpstr>
      <vt:lpstr>Diagrama de Bloques Funcionales</vt:lpstr>
      <vt:lpstr>Relación entre subsistemas y la máquina de estados</vt:lpstr>
      <vt:lpstr>Diagrama de la fase de arranque del sistema.</vt:lpstr>
      <vt:lpstr>Lógica adaptativa de intervalos de transmisión basada en velocidad.</vt:lpstr>
      <vt:lpstr>Ciclo de operación periódica del sistema</vt:lpstr>
      <vt:lpstr>Ruta de manejo de errores del sistema.</vt:lpstr>
      <vt:lpstr>Consumo</vt:lpstr>
      <vt:lpstr>Código y psudocodigo</vt:lpstr>
      <vt:lpstr>Ideas del Loop</vt:lpstr>
      <vt:lpstr>Conclusiones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rolando vega</dc:creator>
  <cp:lastModifiedBy>rolando vega</cp:lastModifiedBy>
  <cp:revision>67</cp:revision>
  <dcterms:created xsi:type="dcterms:W3CDTF">2026-04-23T03:51:02Z</dcterms:created>
  <dcterms:modified xsi:type="dcterms:W3CDTF">2026-04-23T17:52:20Z</dcterms:modified>
</cp:coreProperties>
</file>